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Modernizing Digital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Operations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Retail Bank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|  Systems Analysis &amp; Design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Bank  |  Digital Transformation Initiative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slow onboarding to 5+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cause errors and delays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system integration across channels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microservices approach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integration strategy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F0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87452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1874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856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IBM Cloud platform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3774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2377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CI/CD 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862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event-driven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38328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3383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database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388620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3886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real-time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ABC Bank's customer-facing and back-office systems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legacy monolithic architecture with cloud-native services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onboarding, transactions, and loan processing workflows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and BPMN process modeling for requirements capture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and architecture analysis for system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 with phased delivery across three phases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AND HYPOTHESES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reduce customer onboarding time by 60% through automation?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ensure 99.9% system uptime with cloud-native architecture?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meet PCI-DSS and KYC regulatory compliance while modernizing?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event-driven architecture handle real-time fraud detection at scale?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containerized microservices reduce deployment cycles from monthly to weekly?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manage change resistance and ensure staff adoption of new systems?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onboarding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to 2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uptime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8328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PCI-DSS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886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KYC and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compliance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86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Charter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949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Banking Modernization Initiative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 15,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Description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modernization of ABC Bank's core banking operations from legacy monolithic systems to cloud-native microservices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onboarding from 5 to 2 days; achieve 99.9% uptime; automate 80% of transactions; implement real-time fraud detection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&lt; 2 days; uptime &gt;= 99.9%; 80% transaction automation; PCI-DSS audit pass; zero critical security breaches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Requirements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migration; microservices architecture; CI/CD pipeline; real-time monitoring; automated KYC; event-driven processing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Stakeholders/Roles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(Sponsor); IT Director (Tech Lead); Branch Manager (End User); Compliance Officer (Advisor); CS Lead (End User)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banking, customer onboarding, loan processing, payment transactions, fraud detection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 on IBM Cloud; microservices suite; CI/CD pipeline; monitoring dashboard; security framework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infrastructure supports hybrid cloud; staff available for training; regulatory approvals obtained in parallel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Risks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migration complexity; data loss during migration; staff resistance; cybersecurity threats; regulatory non-compliance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(Wk 2); Architecture (Wk 4); Infrastructure (Wk 8); Dev complete (Wk 20); UAT (Wk 28); Go-live (Wk 32)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 total: Infrastructure $800K; Development $1M; Testing $300K; Training $150K; Contingency $150K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Register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280160"/>
          <a:ext cx="8869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640080"/>
                <a:gridCol w="731520"/>
                <a:gridCol w="594360"/>
                <a:gridCol w="594360"/>
                <a:gridCol w="640080"/>
                <a:gridCol w="777240"/>
                <a:gridCol w="822960"/>
                <a:gridCol w="1737360"/>
                <a:gridCol w="502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Attitude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Comm. Pref.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Floor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delivery, budget compliance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Floor 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stability, zero downtime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Mgr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Office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efficiency gains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Floor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pass, KYC automated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Center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customer complaints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Engagement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Desired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progress demos and KPI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Involve in architecture decisions 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workflow efficiency benefits 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Co-design compliance checks and audits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training and feedback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Requirements Document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digital banking platform covering onboarding, transactions, and loans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Modernize onboarding, payments, and loan processing workflows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infrastructure supports hybrid cloud; staff available for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&lt; 2 days | 99.9% uptime | 80% automation | Zero critical breaches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4572000" cy="3383280"/>
          </a:xfrm>
          <a:prstGeom prst="roundRect">
            <a:avLst>
              <a:gd name="adj" fmla="val 4054"/>
            </a:avLst>
          </a:prstGeom>
          <a:solidFill>
            <a:srgbClr val="F0F4F8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37744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Bank Digital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6916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737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265176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265176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77640" y="3520440"/>
            <a:ext cx="16459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Transaction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Staff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&lt;&lt;include&gt;&gt; Authentication | &lt;&lt;include&gt;&gt; Credit Check | &lt;&lt;extend&gt;&gt; Fraud Alert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Traceability Matrix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"/>
                <a:gridCol w="1005840"/>
                <a:gridCol w="457200"/>
                <a:gridCol w="1005840"/>
                <a:gridCol w="822960"/>
                <a:gridCol w="914400"/>
                <a:gridCol w="548640"/>
                <a:gridCol w="502920"/>
                <a:gridCol w="640080"/>
                <a:gridCol w="640080"/>
                <a:gridCol w="457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 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Biz Objective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Req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account opening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onboarding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&lt; 10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REQ-003, REQ-004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transactions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Br. Mgr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automation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&lt; 2 sec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Lead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 system uptime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availability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8.7 hrs down/yr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REQ-001, REQ-002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KYC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compliance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&lt; 5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REQ-001, REQ-005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Lead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Int.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compliance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compliance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annual audit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REQ-004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Lead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Audit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123444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A23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60320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Digital Banking Modernization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Requirements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32688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1.1.2 Stakeholder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91056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1.1.3 Risk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49424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9424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1.1.4 Architecture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00400" y="2103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0040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Execution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 Infrastructure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858768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58768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 Microservices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17136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 Data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175504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75504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1.2.4 Integration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26480" y="21031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Closure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1.3.1 UAT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84848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84848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1.3.2 Deployment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443216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43216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1.3.3 Training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101584" y="2880360"/>
            <a:ext cx="594360" cy="1463040"/>
          </a:xfrm>
          <a:prstGeom prst="roundRect">
            <a:avLst>
              <a:gd name="adj" fmla="val 9231"/>
            </a:avLst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01584" y="2926080"/>
            <a:ext cx="5943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1.3.4 Post-launch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7406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02920" y="3749040"/>
            <a:ext cx="23317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909560" y="2743200"/>
            <a:ext cx="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909560" y="3246120"/>
            <a:ext cx="-7406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71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0515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659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659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803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8803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7947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947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7091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91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wks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6235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235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379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452360" y="178308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17830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37160" y="32461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7160" y="32461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51560" y="32461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51560" y="32461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965960" y="3246120"/>
            <a:ext cx="822960" cy="10515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965960" y="324612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Requirements → Stakeholder Analysis → Risk Assessment → Architecture → Infrastructure → Microservices → Data Migration → Integration Test → UAT → Deployment → Training → Post-launch Review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47091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~36 weeks  |  Planning: 6 wks  |  Execution: 24 wks  |  Closure: 7 wks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executive sponsorship from CTO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large customer base of 2M users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IT team with Java and cloud experience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regulatory framework and compliance history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FF7E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legacy system dependencies and technical debt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cloud-native and Kubernetes expertise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resistance from branch operations staff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across siloed legacy databases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scalability for peak transaction loads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fraud detection and risk scoring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APIs for third-party integration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differentiation through digital-first experience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15468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566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risks during migration window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mid-implementation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banks launching digital platforms first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failures causing service outages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34440"/>
          <a:ext cx="8961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05840"/>
                <a:gridCol w="1097280"/>
                <a:gridCol w="731520"/>
                <a:gridCol w="502920"/>
                <a:gridCol w="365760"/>
                <a:gridCol w="365760"/>
                <a:gridCol w="457200"/>
                <a:gridCol w="502920"/>
                <a:gridCol w="365760"/>
                <a:gridCol w="1005840"/>
                <a:gridCol w="777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system complexity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failure during cutover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downtime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test migration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plan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system outage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loss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health alerts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Auto-failover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onboarding process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onboarding delayed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churn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Br. Mgr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breach on onboarding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automation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gaps in new system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audit failure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penalties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Pre-audit findings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review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cyber threats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breach incident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Reputation damage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Lead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 detection alert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Matrix: Threat and Opportunity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MATRIX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 rot="16200000">
            <a:off x="914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→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463040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463040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463040"/>
            <a:ext cx="640080" cy="475488"/>
          </a:xfrm>
          <a:prstGeom prst="rect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463040"/>
            <a:ext cx="640080" cy="475488"/>
          </a:xfrm>
          <a:prstGeom prst="rect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9385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97280" y="1938528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1938528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38528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938528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938528"/>
            <a:ext cx="640080" cy="475488"/>
          </a:xfrm>
          <a:prstGeom prst="rect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97280" y="2414016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2414016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2414016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414016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414016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8895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097280" y="2889504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37360" y="2889504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889504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2889504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2889504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3649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9728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3736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3364992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3364992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9728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173736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237744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301752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828800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54680" y="2011680"/>
            <a:ext cx="320040" cy="320040"/>
          </a:xfrm>
          <a:prstGeom prst="ellips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546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154680" y="2487168"/>
            <a:ext cx="320040" cy="320040"/>
          </a:xfrm>
          <a:prstGeom prst="ellips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5468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2514600" y="2487168"/>
            <a:ext cx="320040" cy="320040"/>
          </a:xfrm>
          <a:prstGeom prst="ellips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1460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154680" y="2962656"/>
            <a:ext cx="320040" cy="320040"/>
          </a:xfrm>
          <a:prstGeom prst="ellips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154680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337560" y="2487168"/>
            <a:ext cx="320040" cy="320040"/>
          </a:xfrm>
          <a:prstGeom prst="ellips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33756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600" dirty="0"/>
          </a:p>
        </p:txBody>
      </p:sp>
      <p:sp>
        <p:nvSpPr>
          <p:cNvPr id="53" name="Text 51"/>
          <p:cNvSpPr txBox="1"/>
          <p:nvPr/>
        </p:nvSpPr>
        <p:spPr>
          <a:xfrm>
            <a:off x="48463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MATRIX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 rot="16200000">
            <a:off x="46634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→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120640" y="14630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669280" y="1463040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9360" y="1463040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49440" y="1463040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89520" y="1463040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0" y="1463040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120640" y="193852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669280" y="1938528"/>
            <a:ext cx="640080" cy="475488"/>
          </a:xfrm>
          <a:prstGeom prst="rect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1938528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0" y="1938528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89520" y="1938528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0" y="1938528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120640" y="24140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669280" y="2414016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9360" y="2414016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49440" y="2414016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89520" y="2414016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29600" y="2414016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120640" y="28895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669280" y="2889504"/>
            <a:ext cx="640080" cy="475488"/>
          </a:xfrm>
          <a:prstGeom prst="rect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09360" y="2889504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49440" y="2889504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89520" y="2889504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0" y="2889504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120640" y="33649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669280" y="3364992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09360" y="3364992"/>
            <a:ext cx="640080" cy="475488"/>
          </a:xfrm>
          <a:prstGeom prst="rect">
            <a:avLst/>
          </a:prstGeom>
          <a:solidFill>
            <a:srgbClr val="B8D4A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4944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229600" y="3364992"/>
            <a:ext cx="640080" cy="475488"/>
          </a:xfrm>
          <a:prstGeom prst="rect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66928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630936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694944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758952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8229600" y="3840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6400800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366760" y="2011680"/>
            <a:ext cx="320040" cy="3200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3667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O-001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7726680" y="2487168"/>
            <a:ext cx="320040" cy="3200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72668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O-002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7726680" y="2011680"/>
            <a:ext cx="320040" cy="3200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7266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O-003</a:t>
            </a:r>
            <a:endParaRPr lang="en-US" sz="600" dirty="0"/>
          </a:p>
        </p:txBody>
      </p:sp>
      <p:sp>
        <p:nvSpPr>
          <p:cNvPr id="97" name="Text 95"/>
          <p:cNvSpPr txBox="1"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R-001 Migration failure | R-002 System outage | R-003 Onboarding delay | R-004 Compliance failure | R-005 Data breach</a:t>
            </a:r>
            <a:endParaRPr lang="en-US" sz="700" dirty="0"/>
          </a:p>
        </p:txBody>
      </p:sp>
      <p:sp>
        <p:nvSpPr>
          <p:cNvPr id="98" name="Text 96"/>
          <p:cNvSpPr txBox="1"/>
          <p:nvPr/>
        </p:nvSpPr>
        <p:spPr>
          <a:xfrm>
            <a:off x="274320" y="44805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 O-001 Cloud-native scalability | O-002 AI-driven fraud detection | O-003 Open banking APIs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Banking Process Flowchart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64008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51560" y="13716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0312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731520" cy="685800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54680" y="12801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14800" y="13716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166360" y="13716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66360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54864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1417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64008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5156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10312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0312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54680" y="2194560"/>
            <a:ext cx="731520" cy="685800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54680" y="21945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1480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2860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66360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035040" y="2331720"/>
            <a:ext cx="54864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3504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2971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246120"/>
            <a:ext cx="64008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432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51560" y="32004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A234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5156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103120" y="32004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A234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10312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54680" y="3108960"/>
            <a:ext cx="731520" cy="685800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154680" y="31089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0" y="32004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A234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14800" y="3200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166360" y="320040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0A234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166360" y="32004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35040" y="3246120"/>
            <a:ext cx="54864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03504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858000" y="1280160"/>
            <a:ext cx="2011680" cy="27432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94944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1645920"/>
            <a:ext cx="27432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406640" y="1645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040880" y="192024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406640" y="1920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40880" y="2194560"/>
            <a:ext cx="274320" cy="228600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40664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 Application Portal | Identity Verification | KYC Engine | Payment Gateway | Credit Bureau | Account Management | Notification Service | Loan Processor | Fraud Detection Engine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Data Flow Diagram (Level 0)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371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1371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13716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182880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182880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918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931920"/>
            <a:ext cx="182880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3931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1645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371600"/>
            <a:ext cx="16459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743200"/>
            <a:ext cx="1645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743200"/>
            <a:ext cx="16459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3931920"/>
            <a:ext cx="16459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160020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160020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297180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297180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416052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416052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(Level 1: Onboarding)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164592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Check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0" y="164592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0" y="1645920"/>
            <a:ext cx="137160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005840"/>
            <a:ext cx="10972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0" y="1005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13716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43200"/>
            <a:ext cx="1371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Application DB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0" y="2743200"/>
            <a:ext cx="13716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743200"/>
            <a:ext cx="1371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8600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Identity DB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114800" y="2743200"/>
            <a:ext cx="13716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743200"/>
            <a:ext cx="1371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KYC Records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943600" y="2743200"/>
            <a:ext cx="13716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1371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Customer DB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15200" y="2743200"/>
            <a:ext cx="13716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743200"/>
            <a:ext cx="1371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Notification Log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Application Data → 1.1 → Identity Info → 1.2 → KYC Request → 1.3 → Account Data → 1.4 → Confirmation → 1.5 → Email/SMS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0" y="19659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19659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19659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19659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940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2286000"/>
            <a:ext cx="0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Diagram: Customer Onboarding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801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031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031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747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233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463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949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2179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589520" y="11430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280160" y="1691640"/>
            <a:ext cx="137160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0" y="1527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Submit registration form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51760" y="1965960"/>
            <a:ext cx="137160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0" y="1801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Authenticate request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023360" y="2194560"/>
            <a:ext cx="-1371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743200" y="2029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 token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651760" y="2423160"/>
            <a:ext cx="274320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2258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onboarding request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94960" y="2651760"/>
            <a:ext cx="137160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0" y="24871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 KYC documents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766560" y="2880360"/>
            <a:ext cx="-1371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5486400" y="27157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KYC result (pass/fail)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394960" y="3108960"/>
            <a:ext cx="274320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2944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Create account record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8138160" y="3337560"/>
            <a:ext cx="-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5486400" y="31729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Account ID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5394960" y="3566160"/>
            <a:ext cx="-2743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2743200" y="3401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Onboarding complete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651760" y="3794760"/>
            <a:ext cx="-1371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1371600" y="36301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Confirmation + account details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Cloud Topology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6002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8308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16002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17520" y="1600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26060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78308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Svc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0" y="26060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Svc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51960" y="26060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5196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0A234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83080" y="36118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78308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17520" y="36118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01752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MQ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0" y="1234440"/>
            <a:ext cx="3108960" cy="283464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12700">
            <a:solidFill>
              <a:srgbClr val="065A82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6916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5216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15200" y="16916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85216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5216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0" y="242316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0" y="2423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52160" y="315468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52160" y="3154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0" y="315468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0" y="3154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Logging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 Diagram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2527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Security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52704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691640" y="152704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017520" y="152704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17520" y="1527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Termination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" y="20756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5000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Isolation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91640" y="235000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9164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17520" y="235000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43400" y="235000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43400" y="23500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Tunnels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" y="2898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7296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JWT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91640" y="317296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9164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Authorization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017520" y="317296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01752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343400" y="317296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4340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3703320"/>
            <a:ext cx="530352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65760" y="3721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99592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576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691640" y="399592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69164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17520" y="399592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01752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343400" y="3995928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34340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852160" y="123444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0" y="160020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v4.0 compliant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automated checks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handling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controls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pen testing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SLA &lt; 1hr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scanning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(PoC)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microservices architecture for the customer onboarding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service + Onboarding service + KYC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containers on IBM Cloud Kubernetes, PostgreSQL, REST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Kubernetes, Jenkins, PostgreSQL, Kafka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flow only; no production data; single region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with full build; add Redis caching; implement circuit breakers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Design: Conceptual &amp; Logical ERD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" y="1463040"/>
            <a:ext cx="1271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(PK)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4832" y="1463040"/>
            <a:ext cx="1271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 (PK)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749040" y="141732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463040"/>
            <a:ext cx="1271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TransactionID (PK)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AccountID (FK)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86400" y="141732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1463040"/>
            <a:ext cx="12710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(PK)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→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→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920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→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ERD — NORMALIZATION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1417320"/>
            <a:ext cx="1828800" cy="1417320"/>
          </a:xfrm>
          <a:prstGeom prst="roundRect">
            <a:avLst>
              <a:gd name="adj" fmla="val 3871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14630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All fields atomic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No partial dependencies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No transitive deps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in BCNF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via FK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548640"/>
                <a:gridCol w="548640"/>
                <a:gridCol w="210312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auto-increment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full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auto-increment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account 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key, auto-increment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39496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STRATEGY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94960" y="320040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0F4F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0" y="32461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Extract legacy data from Oracle/DB2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Transform and cleanse using ETL pipeline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Load into PostgreSQL with validation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Parallel run with data sync for 2 weeks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Cutover with rollback plan ready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Row counts, checksums, referential integrity checks post-migration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KEYS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Customer(CustomerID) → Account(CustomerID FK) → Transaction(AccountID FK) | Customer(CustomerID) → Loan(CustomerID FK)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&amp; Test Cases (TDD/BDD)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microservices, APIs, integration points, and database 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functional and non-functional requirements against acceptance criteria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critical path coverage; performance benchmarks met; zero P1 defects at launch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strategy document; test cases; test execution report; defect log; coverage report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 for unit tests; BDD for acceptance tests; automated regression suite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cluster mirroring production configuration on IBM Cloud Kubernetes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1430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4632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Example (Annotated)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TC-001: Verify account creation returns ACTIVE status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Priority: High | Linked Req: REQ-001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test_account_creation():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 = create_account(valid_data)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account.status == "ACTIVE"  # verify status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account.id is not None       # verify ID assigned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account.created_at is not None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65760" y="3246120"/>
            <a:ext cx="8412480" cy="1691640"/>
          </a:xfrm>
          <a:prstGeom prst="roundRect">
            <a:avLst>
              <a:gd name="adj" fmla="val 4324"/>
            </a:avLst>
          </a:prstGeom>
          <a:solidFill>
            <a:srgbClr val="CCFBF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Scenario (Gherkin) — TC-002: Customer Onboarding | Priority: Critical | Linked Req: REQ-001, REQ-004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Customer Onboarding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Successful account creation with valid KYC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a customer provides valid KYC documents including passport and proof of address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they submit the onboarding form with all required fields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an account is created within 10 minutes with status ACTIVE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a confirmation email is sent to the registered email address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the account appears in the customer's dashboard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Workflow &amp; Monitoring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WORKFLOW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463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5740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463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417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463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0680" y="1417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4068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4630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4173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14173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PIPELINE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2377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57400" y="2331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05740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2377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49040" y="2331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904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2377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0680" y="2331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4068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377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23317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pipeline-as-code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for K8s deployment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local dev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20040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DB backups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 1 hour; RTO: 4 hours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replication active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COMPONENTS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Kubernetes Service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Container Registry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Object Storage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FRAMEWORK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1460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51460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51460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6344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66344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12280" y="43434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0F4F8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81228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81228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371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Overhead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6916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increase onboarding time by 300% compared to industry benchmarks due to manual data entry and paper-based verification.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060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560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 Delay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8803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monitoring means average incident detection takes 45 minutes, well above the 5-minute industry target.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7947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749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Waste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0690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monolithic architecture prevents independent scaling, causing 23% resource waste during off-peak hours.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Microservices Architecture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independent deployment and scaling of each banking service for greater agility.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417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Event-Driven Architecture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Kafka for real-time transaction processing and fraud detection across all channels.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246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CI/CD Pipeline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deployment to reduce release cycles from monthly to weekly.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840480" cy="1554480"/>
          </a:xfrm>
          <a:prstGeom prst="roundRect">
            <a:avLst>
              <a:gd name="adj" fmla="val 5882"/>
            </a:avLst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3246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Centralized Monitoring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794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to achieve sub-5-minute incident detection and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modernization initiative addresses critical operational inefficiencies in ABC Bank's digital infrastructure.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68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microservices architecture provides the scalability and resilience needed for modern banking.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minimizes risk while delivering incremental business value.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depends on stakeholder alignment, robust testing, and continuous monitoring post-deployment.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Documentation (2024)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Architecture Framework v10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Compliance Guide v4.0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Security Testing Guide v4.2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002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for UML and process diagrams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for project tracking and RTM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for CI/CD pipeline automation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for monitoring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API specifications available in project repository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stakeholder interview transcripts and meeting notes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test execution reports and defect logs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2026-09-16T19:04:27Z</dcterms:created>
  <dcterms:modified xsi:type="dcterms:W3CDTF">2026-09-16T19:04:27Z</dcterms:modified>
</cp:coreProperties>
</file>