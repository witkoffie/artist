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828800"/>
            <a:ext cx="1371600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914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Modernizing Digital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Banking Operations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a Retail Bank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 |  Systems Analysis &amp; Design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 Bank  |  Digital Transformation Initiative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slow onboarding to 5+ days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processes cause errors and delays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system integration across channels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microservices approach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API-first integration strategy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 deployment model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F0F4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ACTIONS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187452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0" y="1874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8562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to IBM Cloud platform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237744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29200" y="23774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23591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CI/CD pipelines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88036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288036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8620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event-driven architecture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0" y="338328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0" y="3383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3649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Modernize database layer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0" y="388620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29200" y="3886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386791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real-time monitoring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transformation of ABC Bank's core operations to modernize customer-facing and back-office systems through a structured systems analysis approach.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and BPMN process modeling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and architecture analysis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methodology with phased delivery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840480" cy="2926080"/>
          </a:xfrm>
          <a:prstGeom prst="roundRect">
            <a:avLst>
              <a:gd name="adj" fmla="val 4688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874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reduce onboarding time by 60%?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6060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ensure 99.9% system uptime?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meet regulatory compliance while modernizing?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0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463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onboarding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5 to 2 days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2801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0F4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83280" y="1463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0574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availability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uptime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0F4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463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0574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rate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0F4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862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83280" y="31089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0F4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8328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PCI-DSS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8862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KYC and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compliance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31089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F0F4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862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improvement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Charter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Banking Modernization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CTO, ABC Bank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banking, onboarding, loans, payments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Modernize legacy systems, improve efficiency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Deliverables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platform, microservices, CI/CD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months, 3 phases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 Register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005840"/>
                <a:gridCol w="914400"/>
                <a:gridCol w="914400"/>
                <a:gridCol w="914400"/>
                <a:gridCol w="118872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Attitude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Influence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Comm. Pref.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brief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9-5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Director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 Lead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Bi-weekly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9-6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Mgr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9-5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 Lead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 Engagement Plan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28016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Desired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 progress demos and KPI dashboards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Director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Involve in architecture decisions early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workflow efficiency benefits early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Officer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Co-design compliance checks and audits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training and feedback loops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Requirements Document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2179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digital banking platform covering onboarding, transactions, and loans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Modernize onboarding, payments, and loan processing workflows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infrastructure supports hybrid cloud; staff available for training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 Metrics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&lt; 2 days | 99.9% uptime | 80% automation | Zero critical breaches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Diagram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0" y="1188720"/>
            <a:ext cx="4572000" cy="3657600"/>
          </a:xfrm>
          <a:prstGeom prst="roundRect">
            <a:avLst>
              <a:gd name="adj" fmla="val 3750"/>
            </a:avLst>
          </a:prstGeom>
          <a:solidFill>
            <a:srgbClr val="F0F4F8"/>
          </a:solidFill>
          <a:ln w="25400">
            <a:solidFill>
              <a:srgbClr val="065A82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2377440" y="12344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 Bank Digital Platform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26080" y="1691640"/>
            <a:ext cx="164592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0" y="1691640"/>
            <a:ext cx="164592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26080" y="2743200"/>
            <a:ext cx="164592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26080" y="2788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0" y="2743200"/>
            <a:ext cx="164592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0" y="2788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977640" y="3749040"/>
            <a:ext cx="164592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3794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Transaction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👤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" y="2286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200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👤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Staff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21031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Bureau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2560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29260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GW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589520" y="33832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Service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&lt;&lt;include&gt;&gt; Authentication  |  &lt;&lt;include&gt;&gt; Credit Check  |  &lt;&lt;extend&gt;&gt; Fraud Alert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Traceability Matrix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280160"/>
          <a:ext cx="8778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"/>
                <a:gridCol w="1280160"/>
                <a:gridCol w="731520"/>
                <a:gridCol w="1097280"/>
                <a:gridCol w="731520"/>
                <a:gridCol w="640080"/>
                <a:gridCol w="822960"/>
                <a:gridCol w="822960"/>
                <a:gridCol w="548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 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Acceptance Criteria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REQ-001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account opening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&lt; 10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Dir.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R-003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REQ-002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transactions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Mgr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&lt; 2 sec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R-001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REQ-003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 system uptime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8.7 hrs down/yr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Dir.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R-002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REQ-004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KYC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&lt; 5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Int.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R-004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PCI-DSS compliance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annual audit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 Audit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Breakdown Structure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560320" y="1234440"/>
            <a:ext cx="4023360" cy="502920"/>
          </a:xfrm>
          <a:prstGeom prst="roundRect">
            <a:avLst>
              <a:gd name="adj" fmla="val 18182"/>
            </a:avLst>
          </a:prstGeom>
          <a:solidFill>
            <a:srgbClr val="0A23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560320" y="12344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Digital Banking Modernization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210312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43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Planning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4320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1.1.1 Requirements</a:t>
            </a:r>
            <a:endParaRPr lang="en-US" sz="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gathering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932688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1.1.2 Stakeholder</a:t>
            </a:r>
            <a:endParaRPr lang="en-US" sz="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591056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91056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1.1.3 Risk</a:t>
            </a:r>
            <a:endParaRPr lang="en-US" sz="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2249424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49424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1.1.4 Architecture</a:t>
            </a:r>
            <a:endParaRPr lang="en-US" sz="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200400" y="210312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Execution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00400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1.2.1 Infrastructure</a:t>
            </a:r>
            <a:endParaRPr lang="en-US" sz="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3858768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58768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1.2.2 Microservices</a:t>
            </a:r>
            <a:endParaRPr lang="en-US" sz="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517136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17136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1.2.3 Data</a:t>
            </a:r>
            <a:endParaRPr lang="en-US" sz="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175504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75504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1.2.4 Integration</a:t>
            </a:r>
            <a:endParaRPr lang="en-US" sz="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126480" y="210312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2648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Closure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26480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1.3.1 UAT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784848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84848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1.3.2 Deployment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443216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43216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1.3.3 Training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101584" y="2880360"/>
            <a:ext cx="594360" cy="1463040"/>
          </a:xfrm>
          <a:prstGeom prst="roundRect">
            <a:avLst>
              <a:gd name="adj" fmla="val 9231"/>
            </a:avLst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01584" y="2926080"/>
            <a:ext cx="59436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1.3.4 Post-launch</a:t>
            </a:r>
            <a:endParaRPr lang="en-US" sz="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Diagram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2560320"/>
            <a:ext cx="768096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74320" y="1920240"/>
            <a:ext cx="1005840" cy="1188720"/>
          </a:xfrm>
          <a:prstGeom prst="roundRect">
            <a:avLst>
              <a:gd name="adj" fmla="val 7273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192024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71600" y="1920240"/>
            <a:ext cx="1005840" cy="1188720"/>
          </a:xfrm>
          <a:prstGeom prst="roundRect">
            <a:avLst>
              <a:gd name="adj" fmla="val 7273"/>
            </a:avLst>
          </a:prstGeom>
          <a:solidFill>
            <a:srgbClr val="065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192024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wks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68880" y="1920240"/>
            <a:ext cx="1005840" cy="1188720"/>
          </a:xfrm>
          <a:prstGeom prst="roundRect">
            <a:avLst>
              <a:gd name="adj" fmla="val 7273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68880" y="192024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wks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66160" y="1920240"/>
            <a:ext cx="1005840" cy="1188720"/>
          </a:xfrm>
          <a:prstGeom prst="roundRect">
            <a:avLst>
              <a:gd name="adj" fmla="val 7273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66160" y="192024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wks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920240"/>
            <a:ext cx="1005840" cy="1188720"/>
          </a:xfrm>
          <a:prstGeom prst="roundRect">
            <a:avLst>
              <a:gd name="adj" fmla="val 7273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63440" y="192024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wks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760720" y="1920240"/>
            <a:ext cx="1005840" cy="1188720"/>
          </a:xfrm>
          <a:prstGeom prst="roundRect">
            <a:avLst>
              <a:gd name="adj" fmla="val 7273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60720" y="192024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wks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58000" y="1920240"/>
            <a:ext cx="1005840" cy="118872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0" y="192024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wks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955280" y="1920240"/>
            <a:ext cx="1005840" cy="118872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55280" y="192024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wks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Path: Requirements → Architecture → Infrastructure → Microservices → Integration Testing → UAT → Deployment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Duration: ~32 weeks (8 months)  |  Planning: 2 wks  |  Execution: 6 months  |  Closure: 2 wks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 Analysis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840480" cy="1691640"/>
          </a:xfrm>
          <a:prstGeom prst="roundRect">
            <a:avLst>
              <a:gd name="adj" fmla="val 5405"/>
            </a:avLst>
          </a:prstGeom>
          <a:solidFill>
            <a:srgbClr val="CCFB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916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executive sponsorship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customer base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IT team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regulatory framework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3840480" cy="1691640"/>
          </a:xfrm>
          <a:prstGeom prst="roundRect">
            <a:avLst>
              <a:gd name="adj" fmla="val 5405"/>
            </a:avLst>
          </a:prstGeom>
          <a:solidFill>
            <a:srgbClr val="FFF7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6916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 dependencies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cloud expertise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resistance from staff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debt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3840480" cy="1691640"/>
          </a:xfrm>
          <a:prstGeom prst="roundRect">
            <a:avLst>
              <a:gd name="adj" fmla="val 5405"/>
            </a:avLst>
          </a:prstGeom>
          <a:solidFill>
            <a:srgbClr val="DBEAF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246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56616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scalability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fraud detection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APIs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differentiation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3154680"/>
            <a:ext cx="3840480" cy="1691640"/>
          </a:xfrm>
          <a:prstGeom prst="roundRect">
            <a:avLst>
              <a:gd name="adj" fmla="val 5405"/>
            </a:avLst>
          </a:prstGeom>
          <a:solidFill>
            <a:srgbClr val="FEF2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37760" y="3246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356616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risks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changes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digital offerings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 failures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Register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280160"/>
          <a:ext cx="88696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914400"/>
                <a:gridCol w="822960"/>
                <a:gridCol w="777240"/>
                <a:gridCol w="640080"/>
                <a:gridCol w="502920"/>
                <a:gridCol w="502920"/>
                <a:gridCol w="548640"/>
                <a:gridCol w="640080"/>
                <a:gridCol w="457200"/>
                <a:gridCol w="822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complexity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 fail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down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Dir.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R-002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point fail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Downtime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loss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Dir.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Failover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R-003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process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 delay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Cust. churn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Br. Mgr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R-004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Reg. gaps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fail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 threats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breach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Reputation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 Lead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resp.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Matrix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27432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→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4663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3716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0" y="1371600"/>
            <a:ext cx="1188720" cy="640080"/>
          </a:xfrm>
          <a:prstGeom prst="rect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1371600"/>
            <a:ext cx="1188720" cy="640080"/>
          </a:xfrm>
          <a:prstGeom prst="rect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1371600"/>
            <a:ext cx="1188720" cy="640080"/>
          </a:xfrm>
          <a:prstGeom prst="rect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94960" y="1371600"/>
            <a:ext cx="1188720" cy="640080"/>
          </a:xfrm>
          <a:prstGeom prst="rect">
            <a:avLst/>
          </a:prstGeom>
          <a:solidFill>
            <a:srgbClr val="EF44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1371600"/>
            <a:ext cx="1188720" cy="640080"/>
          </a:xfrm>
          <a:prstGeom prst="rect">
            <a:avLst/>
          </a:prstGeom>
          <a:solidFill>
            <a:srgbClr val="EF44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0116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828800" y="2011680"/>
            <a:ext cx="1188720" cy="640080"/>
          </a:xfrm>
          <a:prstGeom prst="rect">
            <a:avLst/>
          </a:prstGeom>
          <a:solidFill>
            <a:srgbClr val="B8D4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0" y="2011680"/>
            <a:ext cx="1188720" cy="640080"/>
          </a:xfrm>
          <a:prstGeom prst="rect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06240" y="2011680"/>
            <a:ext cx="1188720" cy="640080"/>
          </a:xfrm>
          <a:prstGeom prst="rect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94960" y="2011680"/>
            <a:ext cx="1188720" cy="640080"/>
          </a:xfrm>
          <a:prstGeom prst="rect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2011680"/>
            <a:ext cx="1188720" cy="640080"/>
          </a:xfrm>
          <a:prstGeom prst="rect">
            <a:avLst/>
          </a:prstGeom>
          <a:solidFill>
            <a:srgbClr val="EF44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26517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2651760"/>
            <a:ext cx="1188720" cy="640080"/>
          </a:xfrm>
          <a:prstGeom prst="rect">
            <a:avLst/>
          </a:prstGeom>
          <a:solidFill>
            <a:srgbClr val="B8D4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2651760"/>
            <a:ext cx="1188720" cy="640080"/>
          </a:xfrm>
          <a:prstGeom prst="rect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0" y="2651760"/>
            <a:ext cx="1188720" cy="640080"/>
          </a:xfrm>
          <a:prstGeom prst="rect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2651760"/>
            <a:ext cx="1188720" cy="640080"/>
          </a:xfrm>
          <a:prstGeom prst="rect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2651760"/>
            <a:ext cx="1188720" cy="640080"/>
          </a:xfrm>
          <a:prstGeom prst="rect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291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828800" y="3291840"/>
            <a:ext cx="1188720" cy="640080"/>
          </a:xfrm>
          <a:prstGeom prst="rect">
            <a:avLst/>
          </a:prstGeom>
          <a:solidFill>
            <a:srgbClr val="10B98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17520" y="3291840"/>
            <a:ext cx="1188720" cy="640080"/>
          </a:xfrm>
          <a:prstGeom prst="rect">
            <a:avLst/>
          </a:prstGeom>
          <a:solidFill>
            <a:srgbClr val="B8D4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06240" y="3291840"/>
            <a:ext cx="1188720" cy="640080"/>
          </a:xfrm>
          <a:prstGeom prst="rect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94960" y="3291840"/>
            <a:ext cx="1188720" cy="640080"/>
          </a:xfrm>
          <a:prstGeom prst="rect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3291840"/>
            <a:ext cx="1188720" cy="640080"/>
          </a:xfrm>
          <a:prstGeom prst="rect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39319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828800" y="3931920"/>
            <a:ext cx="1188720" cy="640080"/>
          </a:xfrm>
          <a:prstGeom prst="rect">
            <a:avLst/>
          </a:prstGeom>
          <a:solidFill>
            <a:srgbClr val="10B98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3931920"/>
            <a:ext cx="1188720" cy="640080"/>
          </a:xfrm>
          <a:prstGeom prst="rect">
            <a:avLst/>
          </a:prstGeom>
          <a:solidFill>
            <a:srgbClr val="10B98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06240" y="3931920"/>
            <a:ext cx="1188720" cy="640080"/>
          </a:xfrm>
          <a:prstGeom prst="rect">
            <a:avLst/>
          </a:prstGeom>
          <a:solidFill>
            <a:srgbClr val="10B98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94960" y="3931920"/>
            <a:ext cx="1188720" cy="640080"/>
          </a:xfrm>
          <a:prstGeom prst="rect">
            <a:avLst/>
          </a:prstGeom>
          <a:solidFill>
            <a:srgbClr val="B8D4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83680" y="3931920"/>
            <a:ext cx="1188720" cy="640080"/>
          </a:xfrm>
          <a:prstGeom prst="rect">
            <a:avLst/>
          </a:prstGeom>
          <a:solidFill>
            <a:srgbClr val="B8D4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828800" y="45720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017520" y="45720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06240" y="45720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394960" y="45720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0" y="45720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669280" y="2148840"/>
            <a:ext cx="365760" cy="365760"/>
          </a:xfrm>
          <a:prstGeom prst="ellipse">
            <a:avLst/>
          </a:prstGeom>
          <a:solidFill>
            <a:srgbClr val="0A23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6928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R-001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5669280" y="2788920"/>
            <a:ext cx="365760" cy="365760"/>
          </a:xfrm>
          <a:prstGeom prst="ellipse">
            <a:avLst/>
          </a:prstGeom>
          <a:solidFill>
            <a:srgbClr val="0A23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6928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R-002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480560" y="2788920"/>
            <a:ext cx="365760" cy="365760"/>
          </a:xfrm>
          <a:prstGeom prst="ellipse">
            <a:avLst/>
          </a:prstGeom>
          <a:solidFill>
            <a:srgbClr val="0A23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4805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R-003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669280" y="3429000"/>
            <a:ext cx="365760" cy="365760"/>
          </a:xfrm>
          <a:prstGeom prst="ellipse">
            <a:avLst/>
          </a:prstGeom>
          <a:solidFill>
            <a:srgbClr val="0A23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6692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R-004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989320" y="2788920"/>
            <a:ext cx="365760" cy="365760"/>
          </a:xfrm>
          <a:prstGeom prst="ellipse">
            <a:avLst/>
          </a:prstGeom>
          <a:solidFill>
            <a:srgbClr val="0A23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98932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R-005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Model: Customer Onboarding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2286000"/>
            <a:ext cx="82296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22860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2148840"/>
            <a:ext cx="109728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63040" y="214884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834640" y="2148840"/>
            <a:ext cx="109728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34640" y="214884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60520" y="2011680"/>
            <a:ext cx="1097280" cy="1051560"/>
          </a:xfrm>
          <a:prstGeom prst="diamond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60520" y="2011680"/>
            <a:ext cx="1097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Passed?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532120" y="2148840"/>
            <a:ext cx="109728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32120" y="214884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903720" y="2148840"/>
            <a:ext cx="109728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14884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640080" cy="50292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0" y="22860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4720" y="347472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9731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74720" y="34747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Add'l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3063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↓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Components: Application Portal  |  Identity Verification  |  KYC Engine  |  Account Management  |  Notification Service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Design: Data Flow Diagram (Level 0)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1371600" cy="548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1371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1371600" cy="548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2743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Bureau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3931920"/>
            <a:ext cx="1371600" cy="548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Gateway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182880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91840" y="1371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743200"/>
            <a:ext cx="182880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9184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3931920"/>
            <a:ext cx="182880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91840" y="3931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1371600"/>
            <a:ext cx="164592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0" y="1371600"/>
            <a:ext cx="16459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DB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58000" y="2743200"/>
            <a:ext cx="164592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0" y="2743200"/>
            <a:ext cx="16459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0" y="2743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3931920"/>
            <a:ext cx="164592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0" y="3931920"/>
            <a:ext cx="16459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DB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783080" y="1600200"/>
            <a:ext cx="14630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66360" y="1600200"/>
            <a:ext cx="16459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783080" y="2971800"/>
            <a:ext cx="14630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66360" y="2971800"/>
            <a:ext cx="16459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83080" y="4160520"/>
            <a:ext cx="14630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66360" y="4160520"/>
            <a:ext cx="16459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&amp; Cloud Topology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280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097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783080" y="1600200"/>
            <a:ext cx="1097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78308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017520" y="1600200"/>
            <a:ext cx="1097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01752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65760" y="224028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1097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Service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783080" y="2606040"/>
            <a:ext cx="1097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7830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Svc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017520" y="2606040"/>
            <a:ext cx="1097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01752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Svc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51960" y="2606040"/>
            <a:ext cx="1097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25196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Service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324612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0A234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611880"/>
            <a:ext cx="1097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783080" y="3611880"/>
            <a:ext cx="1097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78308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017520" y="3611880"/>
            <a:ext cx="1097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01752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MQ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669280" y="1234440"/>
            <a:ext cx="3108960" cy="2834640"/>
          </a:xfrm>
          <a:prstGeom prst="roundRect">
            <a:avLst>
              <a:gd name="adj" fmla="val 3871"/>
            </a:avLst>
          </a:prstGeom>
          <a:solidFill>
            <a:srgbClr val="F0F4F8"/>
          </a:solidFill>
          <a:ln w="12700">
            <a:solidFill>
              <a:srgbClr val="065A82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576072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Cloud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852160" y="1691640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85216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Cluster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315200" y="1691640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852160" y="2423160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852160" y="24231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315200" y="2423160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0" y="24231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852160" y="3154680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852160" y="31546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Monitoring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315200" y="3154680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315200" y="31546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Logging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 of Concept (PoC)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217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microservices architecture for the customer onboarding flow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service + Onboarding service + KYC 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containers on IBM Cloud Kubernetes, PostgreSQL, REST APIs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Docker, Kubernetes, Jenkins, PostgreSQL, Kafka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flow only; no production data; single region deployment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Proceed with full build; add Redis caching; implement circuit breakers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─────────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CustomerID (PK)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51760" y="14630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─────────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AccountID (PK)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CustomerID (FK)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4630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─────────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TransactionID (PK)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AccountID (FK)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94944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0" y="14630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─────────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LoanID (PK)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CustomerID (FK)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 →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 →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 →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383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Dictionary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8046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731520"/>
                <a:gridCol w="731520"/>
                <a:gridCol w="420624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Nullable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key, auto-increment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full name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key, auto-increment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account balance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key, auto-increment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Plan &amp; Test Cases (TDD/BDD)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microservices and integration points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functional and non-functional requirements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critical path coverage; performance benchmarks met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TDD for unit tests; BDD for acceptance tests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cluster mirroring 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754880" y="123444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0F4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37760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Example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1600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test_account_creation():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account = create_account(valid_data)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 account.status == "ACTIVE"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 account.id is not None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48640" y="3291840"/>
            <a:ext cx="8046720" cy="1645920"/>
          </a:xfrm>
          <a:prstGeom prst="roundRect">
            <a:avLst>
              <a:gd name="adj" fmla="val 4444"/>
            </a:avLst>
          </a:prstGeom>
          <a:solidFill>
            <a:srgbClr val="CCFB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1520" y="3337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Scenario (Gherkin)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6576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Feature: Customer Onboarding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Scenario: Successful account creation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Given a customer provides valid KYC documents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they submit the onboarding form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an account is created within 10 minutes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a confirmation email is sent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Workflow &amp; Monitoring Plan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WORKFLOW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554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691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194560" y="15544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1554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691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840480" y="15544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40480" y="1554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1691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0" y="1554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691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132320" y="15544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32320" y="1554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PIPELINE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27432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27432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92024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194560" y="27432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065A8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194560" y="27432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840480" y="27432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065A8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840480" y="27432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21208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486400" y="27432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065A8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0" y="27432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132320" y="27432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132320" y="27432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FRAMEWORK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397764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0F4F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4023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4343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collection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51760" y="397764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0F4F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651760" y="4023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2651760" y="4343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54880" y="397764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0F4F8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54880" y="4023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Stack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4754880" y="4343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aggregation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58000" y="397764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0F4F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858000" y="4023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858000" y="4343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804672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1732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417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300%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13716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Time Overhead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69164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increase onboarding time by 300% compared to industry benchmarks due to manual data entry and paper-based verification.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804672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6060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256032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Detection Delay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88036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real-time monitoring means average incident detection takes 45 minutes, well above the 5-minute industry target.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804672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79476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794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749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Waste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40690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monolithic architecture prevents independent scaling, causing 23% resource waste during off-peak hours.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Recommendations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840480" cy="1554480"/>
          </a:xfrm>
          <a:prstGeom prst="roundRect">
            <a:avLst>
              <a:gd name="adj" fmla="val 5882"/>
            </a:avLst>
          </a:prstGeom>
          <a:solidFill>
            <a:srgbClr val="F0F4F8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1732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417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Microservices Architecture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9659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independent deployment and scaling of each banking service for greater agility.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3840480" cy="1554480"/>
          </a:xfrm>
          <a:prstGeom prst="roundRect">
            <a:avLst>
              <a:gd name="adj" fmla="val 5882"/>
            </a:avLst>
          </a:prstGeom>
          <a:solidFill>
            <a:srgbClr val="F0F4F8"/>
          </a:solidFill>
          <a:ln/>
        </p:spPr>
      </p:sp>
      <p:sp>
        <p:nvSpPr>
          <p:cNvPr id="11" name="Shape 9"/>
          <p:cNvSpPr/>
          <p:nvPr/>
        </p:nvSpPr>
        <p:spPr>
          <a:xfrm>
            <a:off x="4892040" y="141732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1417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Event-Driven Architecture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19659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Kafka for real-time transaction processing and fraud detection across all channels.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3840480" cy="1554480"/>
          </a:xfrm>
          <a:prstGeom prst="roundRect">
            <a:avLst>
              <a:gd name="adj" fmla="val 5882"/>
            </a:avLst>
          </a:prstGeom>
          <a:solidFill>
            <a:srgbClr val="F0F4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324612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2461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CI/CD Pipeline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7947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testing and deployment to reduce release cycles from monthly to weekly.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108960"/>
            <a:ext cx="3840480" cy="1554480"/>
          </a:xfrm>
          <a:prstGeom prst="roundRect">
            <a:avLst>
              <a:gd name="adj" fmla="val 5882"/>
            </a:avLst>
          </a:prstGeom>
          <a:solidFill>
            <a:srgbClr val="F0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892040" y="324612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32461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Centralized Monitoring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37947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and Grafana to achieve sub-5-minute incident detection and response.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371600" cy="4572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3736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6916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modernization initiative addresses critical operational inefficiencies in ABC Bank's digital infrastructure.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68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microservices architecture provides the scalability and resilience needed for modern banking.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2461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implementation minimizes risk while delivering incremental business value.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0233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depends on stakeholder alignment, robust testing, and continuous monitoring post-deployment.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37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Cloud Documentation (2024)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TOGAF Architecture Framework v10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Compliance Guide v4.0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Security Testing Guide v4.2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60020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Draw.io for UML and process diagrams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for project tracking and RTM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for CI/CD pipeline automation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Prometheus/Grafana for monitoring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MATERIALS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API specifications available in project repository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stakeholder interview transcripts and meeting notes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test execution reports and defect logs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2026-09-16T18:36:03Z</dcterms:created>
  <dcterms:modified xsi:type="dcterms:W3CDTF">2026-09-16T18:36:03Z</dcterms:modified>
</cp:coreProperties>
</file>